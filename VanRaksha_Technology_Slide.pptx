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4297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data fusion: Satellite + IoT sensors + Predictive AI analytics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474720" cy="594360"/>
          </a:xfrm>
          <a:prstGeom prst="rect">
            <a:avLst>
              <a:gd name="adj" fmla="val 9231"/>
            </a:avLst>
          </a:prstGeom>
          <a:solidFill>
            <a:srgbClr val="2C7A3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68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Satellite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024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NDVI, canopy, heat mapping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97680" y="749808"/>
            <a:ext cx="3474720" cy="594360"/>
          </a:xfrm>
          <a:prstGeom prst="rect">
            <a:avLst>
              <a:gd name="adj" fmla="val 9231"/>
            </a:avLst>
          </a:prstGeom>
          <a:solidFill>
            <a:srgbClr val="2C7A3E"/>
          </a:solidFill>
          <a:ln/>
        </p:spPr>
      </p:sp>
      <p:sp>
        <p:nvSpPr>
          <p:cNvPr id="9" name="Text 7"/>
          <p:cNvSpPr/>
          <p:nvPr/>
        </p:nvSpPr>
        <p:spPr>
          <a:xfrm>
            <a:off x="4407408" y="768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IoT Sensor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07408" y="1024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water, air quality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321040" y="749808"/>
            <a:ext cx="3474720" cy="594360"/>
          </a:xfrm>
          <a:prstGeom prst="rect">
            <a:avLst>
              <a:gd name="adj" fmla="val 9231"/>
            </a:avLst>
          </a:prstGeom>
          <a:solidFill>
            <a:srgbClr val="2C7A3E"/>
          </a:solidFill>
          <a:ln/>
        </p:spPr>
      </p:sp>
      <p:sp>
        <p:nvSpPr>
          <p:cNvPr id="12" name="Text 10"/>
          <p:cNvSpPr/>
          <p:nvPr/>
        </p:nvSpPr>
        <p:spPr>
          <a:xfrm>
            <a:off x="8430768" y="768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30768" y="1024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risk scoring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463040"/>
            <a:ext cx="5806440" cy="256032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481328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1. INTEGRATED EDGE NODES (Core Hardware)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719072"/>
          <a:ext cx="5806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20240"/>
                <a:gridCol w="411480"/>
                <a:gridCol w="685800"/>
                <a:gridCol w="685800"/>
                <a:gridCol w="685800"/>
              </a:tblGrid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processing + communication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₹84,500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JX-80 Soil Sensor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health (moisture, pH, EC, temp)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₹72,000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Temp + Humidity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Microclimate sensing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Sensor (PMS5003)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quality monitoring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Sensor (MH-Z19B)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quality monitoring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RS485 Converter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sensor interface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₹3,600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Waterproof Enclosure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protection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₹10,400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182880" y="3145536"/>
            <a:ext cx="5806440" cy="201168"/>
          </a:xfrm>
          <a:prstGeom prst="rect">
            <a:avLst/>
          </a:prstGeom>
          <a:solidFill>
            <a:srgbClr val="4CAF6F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3163824"/>
            <a:ext cx="5623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Subtotal: ₹2,06,500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82880" y="3374136"/>
            <a:ext cx="5806440" cy="256032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392424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2. NETWORK &amp; CLOUD INFRASTRUCTURE</a:t>
            </a:r>
            <a:endParaRPr lang="en-US" sz="8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630168"/>
          <a:ext cx="5806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731520"/>
                <a:gridCol w="1600200"/>
              </a:tblGrid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Mesh Routers (3–4 units)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Park-wide connectivity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~5 hectares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Setup (cables, switches)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communication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Server (AWS / VPS)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 + APIs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₹12,000/yr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(WireGuard / Tailscale)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communication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182880" y="4613148"/>
            <a:ext cx="5806440" cy="201168"/>
          </a:xfrm>
          <a:prstGeom prst="rect">
            <a:avLst/>
          </a:prstGeom>
          <a:solidFill>
            <a:srgbClr val="4CAF6F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4631436"/>
            <a:ext cx="5623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Subtotal: ₹35,000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82880" y="4841748"/>
            <a:ext cx="5806440" cy="256032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25" name="Text 21"/>
          <p:cNvSpPr/>
          <p:nvPr/>
        </p:nvSpPr>
        <p:spPr>
          <a:xfrm>
            <a:off x="274320" y="4860036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3. AI &amp; PROCESSING LAYER</a:t>
            </a:r>
            <a:endParaRPr lang="en-US" sz="8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097780"/>
          <a:ext cx="5806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48840"/>
                <a:gridCol w="777240"/>
                <a:gridCol w="868680"/>
              </a:tblGrid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Jetson 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processing (tree + biodiversity)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Biodiversity Node (Camera + Mic + Pi)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 + tree health monitoring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Models (CV + Audio)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health + biodiversity scoring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182880" y="5884164"/>
            <a:ext cx="5806440" cy="201168"/>
          </a:xfrm>
          <a:prstGeom prst="rect">
            <a:avLst/>
          </a:prstGeom>
          <a:solidFill>
            <a:srgbClr val="4CAF6F"/>
          </a:solidFill>
          <a:ln/>
        </p:spPr>
      </p:sp>
      <p:sp>
        <p:nvSpPr>
          <p:cNvPr id="28" name="Text 23"/>
          <p:cNvSpPr/>
          <p:nvPr/>
        </p:nvSpPr>
        <p:spPr>
          <a:xfrm>
            <a:off x="274320" y="5902452"/>
            <a:ext cx="5623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Subtotal: ₹28,000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172200" y="1463040"/>
            <a:ext cx="5806440" cy="256032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30" name="Text 25"/>
          <p:cNvSpPr/>
          <p:nvPr/>
        </p:nvSpPr>
        <p:spPr>
          <a:xfrm>
            <a:off x="6263640" y="1481328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4. WHAT TO ADD – GSHI Enhancement Layer</a:t>
            </a:r>
            <a:endParaRPr lang="en-US" sz="85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19072"/>
          <a:ext cx="58064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737360"/>
                <a:gridCol w="685800"/>
                <a:gridCol w="685800"/>
                <a:gridCol w="868680"/>
              </a:tblGrid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 Satellite Integration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health scoring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Comfort Index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stress &amp; urban heat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GSHI Scoring Engine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health index (0–100)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System (SMS/API)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alerts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Soon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Analytics (AI)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degradation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Later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 Reporting API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integration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Later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6"/>
          <p:cNvSpPr/>
          <p:nvPr/>
        </p:nvSpPr>
        <p:spPr>
          <a:xfrm>
            <a:off x="6172200" y="3186684"/>
            <a:ext cx="5806440" cy="256032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33" name="Text 27"/>
          <p:cNvSpPr/>
          <p:nvPr/>
        </p:nvSpPr>
        <p:spPr>
          <a:xfrm>
            <a:off x="6263640" y="3204972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LORA GATEWAYS (Critical Infrastructure)</a:t>
            </a:r>
            <a:endParaRPr lang="en-US" sz="85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442716"/>
          <a:ext cx="5806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123444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RAK2287 LoRaWAN Gateway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5km radius, 200+ nodes, production-grade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Single-ch LoRa (ESP32+RFM95W)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1km range, bench testing before RAK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 SIM + data plan (Airtel/Jio)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 → AWS via 4G, ~10GB/mo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35" name="Shape 28"/>
          <p:cNvSpPr/>
          <p:nvPr/>
        </p:nvSpPr>
        <p:spPr>
          <a:xfrm>
            <a:off x="6172200" y="4393692"/>
            <a:ext cx="5806440" cy="256032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36" name="Text 29"/>
          <p:cNvSpPr/>
          <p:nvPr/>
        </p:nvSpPr>
        <p:spPr>
          <a:xfrm>
            <a:off x="6263640" y="4411980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ADDITIONS (Zero Licensing Cost)</a:t>
            </a:r>
            <a:endParaRPr lang="en-US" sz="850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649724"/>
          <a:ext cx="580644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097280"/>
                <a:gridCol w="1188720"/>
              </a:tblGrid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E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CWC API — 48hr Yamuna flood warning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API — India monsoon alerts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 blockage detection algo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 risk score engine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DDA flood zone GeoJSON overlay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flood report category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0"/>
          <p:cNvSpPr/>
          <p:nvPr/>
        </p:nvSpPr>
        <p:spPr>
          <a:xfrm>
            <a:off x="6172200" y="6117336"/>
            <a:ext cx="5806440" cy="256032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9" name="Text 31"/>
          <p:cNvSpPr/>
          <p:nvPr/>
        </p:nvSpPr>
        <p:spPr>
          <a:xfrm>
            <a:off x="6263640" y="6135624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COST SUMMARY</a:t>
            </a:r>
            <a:endParaRPr lang="en-US" sz="850" dirty="0"/>
          </a:p>
        </p:txBody>
      </p:sp>
      <p:graphicFrame>
        <p:nvGraphicFramePr>
          <p:cNvPr id="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6373368"/>
          <a:ext cx="580644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7830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3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Nodes (Edge Hardware)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₹2,06,500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+ Cloud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Processing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+ Misc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2"/>
          <p:cNvSpPr/>
          <p:nvPr/>
        </p:nvSpPr>
        <p:spPr>
          <a:xfrm>
            <a:off x="6172200" y="7379208"/>
            <a:ext cx="5806440" cy="256032"/>
          </a:xfrm>
          <a:prstGeom prst="rect">
            <a:avLst/>
          </a:prstGeom>
          <a:solidFill>
            <a:srgbClr val="4CAF6F"/>
          </a:solidFill>
          <a:ln/>
        </p:spPr>
      </p:sp>
      <p:sp>
        <p:nvSpPr>
          <p:cNvPr id="42" name="Text 33"/>
          <p:cNvSpPr/>
          <p:nvPr/>
        </p:nvSpPr>
        <p:spPr>
          <a:xfrm>
            <a:off x="6263640" y="740664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TOTAL:  ~₹3.5 – ₹4 Lakhs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44" name="Text 35"/>
          <p:cNvSpPr/>
          <p:nvPr/>
        </p:nvSpPr>
        <p:spPr>
          <a:xfrm>
            <a:off x="27432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VanRaksha  |  Technology Stack Overview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2026-04-17T05:27:31Z</dcterms:created>
  <dcterms:modified xsi:type="dcterms:W3CDTF">2026-04-17T05:27:31Z</dcterms:modified>
</cp:coreProperties>
</file>